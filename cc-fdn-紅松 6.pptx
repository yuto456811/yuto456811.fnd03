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96" r:id="rId5"/>
    <p:sldId id="298" r:id="rId6"/>
    <p:sldId id="8607" r:id="rId7"/>
    <p:sldId id="8609" r:id="rId8"/>
    <p:sldId id="8604" r:id="rId9"/>
    <p:sldId id="301" r:id="rId10"/>
    <p:sldId id="300" r:id="rId11"/>
    <p:sldId id="8605" r:id="rId12"/>
    <p:sldId id="8606" r:id="rId13"/>
  </p:sldIdLst>
  <p:sldSz cx="12192000" cy="6858000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96"/>
            <p14:sldId id="298"/>
            <p14:sldId id="8607"/>
            <p14:sldId id="8609"/>
            <p14:sldId id="8604"/>
            <p14:sldId id="301"/>
            <p14:sldId id="300"/>
            <p14:sldId id="8605"/>
            <p14:sldId id="86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171E23-DB05-BD7D-99E5-FF296E41DDED}" name="高橋 有咲(Arisa Takahashi)" initials="高橋" userId="S::J2442181@jera.co.jp::3ae61473-b121-455f-bb7b-c779dba801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3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84" dt="2026-10-28T02:31:20.562"/>
    <p1510:client id="{6C7A3F01-0959-63AC-39E4-ED9AC3B1674C}" v="352" dt="2026-10-28T07:13:42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503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2327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4E10B4D-56AE-52CA-C895-4908119AB3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58766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E10B4D-56AE-52CA-C895-4908119AB3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CAA9B73-3B45-F275-97AC-D8FCA92E53B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" y="0"/>
            <a:ext cx="12191999" cy="6858000"/>
            <a:chOff x="-1" y="0"/>
            <a:chExt cx="12191999" cy="6858000"/>
          </a:xfrm>
        </p:grpSpPr>
        <p:pic>
          <p:nvPicPr>
            <p:cNvPr id="4" name="図 3" descr="クロスワードパズル, テキスト, 建物, 大きい が含まれている画像&#10;&#10;自動的に生成された説明">
              <a:extLst>
                <a:ext uri="{FF2B5EF4-FFF2-40B4-BE49-F238E27FC236}">
                  <a16:creationId xmlns:a16="http://schemas.microsoft.com/office/drawing/2014/main" id="{B4649C30-3334-CADC-14A3-2155D1E5CEB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5">
              <a:alphaModFix amt="50000"/>
            </a:blip>
            <a:srcRect l="52126" t="11706" b="3961"/>
            <a:stretch/>
          </p:blipFill>
          <p:spPr>
            <a:xfrm>
              <a:off x="6355079" y="0"/>
              <a:ext cx="5836919" cy="6858000"/>
            </a:xfrm>
            <a:prstGeom prst="rect">
              <a:avLst/>
            </a:prstGeom>
          </p:spPr>
        </p:pic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42CFF506-B6C5-BE93-E4D5-5E0AD0855AEE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1" y="0"/>
              <a:ext cx="6355081" cy="6858000"/>
              <a:chOff x="-1" y="0"/>
              <a:chExt cx="6355081" cy="6858000"/>
            </a:xfrm>
          </p:grpSpPr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1CE093E-7EF9-F2B2-2824-5ECD13754E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" y="6553199"/>
                <a:ext cx="6355079" cy="3048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pic>
            <p:nvPicPr>
              <p:cNvPr id="9" name="図 8" descr="クロスワードパズル, テキスト, 建物, 大きい が含まれている画像&#10;&#10;自動的に生成された説明">
                <a:extLst>
                  <a:ext uri="{FF2B5EF4-FFF2-40B4-BE49-F238E27FC236}">
                    <a16:creationId xmlns:a16="http://schemas.microsoft.com/office/drawing/2014/main" id="{08D19824-DB1A-AFC8-A98B-F70BB63469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 rotWithShape="1">
              <a:blip r:embed="rId5">
                <a:alphaModFix amt="50000"/>
              </a:blip>
              <a:srcRect t="11706" r="47875" b="3961"/>
              <a:stretch/>
            </p:blipFill>
            <p:spPr>
              <a:xfrm>
                <a:off x="-1" y="0"/>
                <a:ext cx="6355079" cy="6858000"/>
              </a:xfrm>
              <a:prstGeom prst="rect">
                <a:avLst/>
              </a:prstGeom>
            </p:spPr>
          </p:pic>
        </p:grp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A78EEBC4-B26C-F7B3-79D8-139CC4A2EF1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88" y="432833"/>
              <a:ext cx="1295400" cy="698500"/>
            </a:xfrm>
            <a:prstGeom prst="rect">
              <a:avLst/>
            </a:prstGeom>
          </p:spPr>
        </p:pic>
      </p:grpSp>
      <p:sp>
        <p:nvSpPr>
          <p:cNvPr id="6" name="タイトル 1">
            <a:extLst>
              <a:ext uri="{FF2B5EF4-FFF2-40B4-BE49-F238E27FC236}">
                <a16:creationId xmlns:a16="http://schemas.microsoft.com/office/drawing/2014/main" id="{D5A3457A-1286-59BC-037E-53FDE48CD441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58813" y="2855743"/>
            <a:ext cx="10874376" cy="720000"/>
          </a:xfrm>
          <a:prstGeom prst="rect">
            <a:avLst/>
          </a:prstGeom>
        </p:spPr>
        <p:txBody>
          <a:bodyPr vert="horz" lIns="0" tIns="36000" rIns="0" bIns="0" anchor="ctr">
            <a:noAutofit/>
          </a:bodyPr>
          <a:lstStyle>
            <a:lvl1pPr algn="l"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7" name="サブタイトル 2">
            <a:extLst>
              <a:ext uri="{FF2B5EF4-FFF2-40B4-BE49-F238E27FC236}">
                <a16:creationId xmlns:a16="http://schemas.microsoft.com/office/drawing/2014/main" id="{5A9BEC2E-8717-09EA-05E0-5DB0CBA0CA1A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58813" y="3602038"/>
            <a:ext cx="10874376" cy="407254"/>
          </a:xfrm>
          <a:prstGeom prst="rect">
            <a:avLst/>
          </a:prstGeom>
        </p:spPr>
        <p:txBody>
          <a:bodyPr lIns="0" tIns="36000" rIns="0" bIns="0" anchor="ctr"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98FC2E-A834-A5FA-22A0-7A3F9A2E8E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8037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5">
          <p15:clr>
            <a:srgbClr val="FBAE40"/>
          </p15:clr>
        </p15:guide>
        <p15:guide id="3" pos="166">
          <p15:clr>
            <a:srgbClr val="FBAE40"/>
          </p15:clr>
        </p15:guide>
        <p15:guide id="4" pos="7514">
          <p15:clr>
            <a:srgbClr val="FBAE40"/>
          </p15:clr>
        </p15:guide>
        <p15:guide id="5" pos="72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8AFD93DD-4838-EEF2-1BC3-166BE9E6C6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50000"/>
          </a:blip>
          <a:srcRect t="11788" b="38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FDDA2CA6-F1E0-F7E5-C8D6-72FC80A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2" y="3126265"/>
            <a:ext cx="10874376" cy="627743"/>
          </a:xfrm>
          <a:prstGeom prst="rect">
            <a:avLst/>
          </a:prstGeom>
        </p:spPr>
        <p:txBody>
          <a:bodyPr lIns="0" tIns="72000" rIns="0" bIns="0"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2C21EF-9F40-9B11-9366-FAF479DEA9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05696" y="6591088"/>
            <a:ext cx="580608" cy="1732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800">
                <a:solidFill>
                  <a:schemeClr val="bg2"/>
                </a:solidFill>
                <a:latin typeface="+mn-lt"/>
                <a:ea typeface="+mn-ea"/>
              </a:rPr>
              <a:t>Page</a:t>
            </a:r>
            <a:r>
              <a:rPr kumimoji="1" lang="ja-JP" altLang="en-US" sz="800" baseline="0">
                <a:solidFill>
                  <a:schemeClr val="bg2"/>
                </a:solidFill>
                <a:latin typeface="+mn-lt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solidFill>
                  <a:schemeClr val="bg2"/>
                </a:solidFill>
                <a:latin typeface="+mn-lt"/>
                <a:ea typeface="+mn-ea"/>
              </a:rPr>
              <a:pPr algn="ctr"/>
              <a:t>‹#›</a:t>
            </a:fld>
            <a:endParaRPr kumimoji="1" lang="ja-JP" altLang="en-US" sz="800">
              <a:solidFill>
                <a:schemeClr val="bg2"/>
              </a:solidFill>
              <a:latin typeface="+mn-lt"/>
              <a:ea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36490C-7F8F-13E2-E2AB-52DE826F08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B3B0302-9A2F-EACE-3F0D-74ABA1C33B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1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5">
          <p15:clr>
            <a:srgbClr val="FBAE40"/>
          </p15:clr>
        </p15:guide>
        <p15:guide id="3" pos="166">
          <p15:clr>
            <a:srgbClr val="FBAE40"/>
          </p15:clr>
        </p15:guide>
        <p15:guide id="4" pos="7265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2AB561-4A8E-B784-10D8-5A521AD60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55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AB561-4A8E-B784-10D8-5A521AD60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 lIns="0" tIns="7200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D89FCFA-8759-AC2E-F327-7493C9E29C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2" y="1272491"/>
            <a:ext cx="10874375" cy="61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504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2pPr>
            <a:lvl3pPr marL="792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3pPr>
            <a:lvl4pPr marL="1080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4pPr>
            <a:lvl5pPr marL="1368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5pPr>
            <a:lvl6pPr marL="1656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6pPr>
            <a:lvl7pPr marL="1944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7pPr>
            <a:lvl8pPr marL="2232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8pPr>
            <a:lvl9pPr marL="2520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851F1CC6-7B43-50EB-8E88-9BE5A7B3BA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812" y="2204353"/>
            <a:ext cx="10874375" cy="4104371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504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2pPr>
            <a:lvl3pPr marL="792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3pPr>
            <a:lvl4pPr marL="1080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4pPr>
            <a:lvl5pPr marL="1368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5pPr>
            <a:lvl6pPr marL="1656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6pPr>
            <a:lvl7pPr marL="1944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7pPr>
            <a:lvl8pPr marL="2232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8pPr>
            <a:lvl9pPr marL="2520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graphicFrame>
        <p:nvGraphicFramePr>
          <p:cNvPr id="2" name="表 13">
            <a:extLst>
              <a:ext uri="{FF2B5EF4-FFF2-40B4-BE49-F238E27FC236}">
                <a16:creationId xmlns:a16="http://schemas.microsoft.com/office/drawing/2014/main" id="{8D582E3C-0607-D524-6426-7F80273F650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62694392"/>
              </p:ext>
            </p:extLst>
          </p:nvPr>
        </p:nvGraphicFramePr>
        <p:xfrm>
          <a:off x="850059" y="6533965"/>
          <a:ext cx="4970733" cy="25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96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91182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359517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5000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63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">
          <p15:clr>
            <a:srgbClr val="FBAE40"/>
          </p15:clr>
        </p15:guide>
        <p15:guide id="2" pos="7514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pos="415">
          <p15:clr>
            <a:srgbClr val="FBAE40"/>
          </p15:clr>
        </p15:guide>
        <p15:guide id="7" pos="726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2AB561-4A8E-B784-10D8-5A521AD60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6577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AB561-4A8E-B784-10D8-5A521AD60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18366"/>
            <a:ext cx="11269662" cy="720000"/>
          </a:xfrm>
          <a:prstGeom prst="rect">
            <a:avLst/>
          </a:prstGeom>
        </p:spPr>
        <p:txBody>
          <a:bodyPr vert="horz" lIns="0" tIns="7200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03A148ED-7F30-391E-B780-210D61764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812" y="1268413"/>
            <a:ext cx="10874375" cy="5040312"/>
          </a:xfrm>
          <a:prstGeom prst="rect">
            <a:avLst/>
          </a:prstGeom>
        </p:spPr>
        <p:txBody>
          <a:bodyPr lIns="0" tIns="0" rIns="0" bIns="0"/>
          <a:lstStyle>
            <a:lvl1pPr marL="252000" indent="-252000"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1pPr>
            <a:lvl2pPr marL="612000" indent="-288000"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2pPr>
            <a:lvl3pPr marL="936000" indent="-288000"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3pPr>
            <a:lvl4pPr marL="1260000" indent="-288000"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4pPr>
            <a:lvl5pPr marL="1584000" indent="-288000"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5pPr>
            <a:lvl6pPr marL="1908000" indent="-28800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6pPr>
            <a:lvl7pPr marL="2232000" indent="-28800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7pPr>
            <a:lvl8pPr marL="2556000" indent="-28800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8pPr>
            <a:lvl9pPr marL="2880000" indent="-28800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graphicFrame>
        <p:nvGraphicFramePr>
          <p:cNvPr id="4" name="表 13">
            <a:extLst>
              <a:ext uri="{FF2B5EF4-FFF2-40B4-BE49-F238E27FC236}">
                <a16:creationId xmlns:a16="http://schemas.microsoft.com/office/drawing/2014/main" id="{098632D9-536C-93BF-197A-70B112D0C55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73712583"/>
              </p:ext>
            </p:extLst>
          </p:nvPr>
        </p:nvGraphicFramePr>
        <p:xfrm>
          <a:off x="850059" y="6533965"/>
          <a:ext cx="4970733" cy="25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96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91182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359517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5000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8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">
          <p15:clr>
            <a:srgbClr val="FBAE40"/>
          </p15:clr>
        </p15:guide>
        <p15:guide id="2" pos="7514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pos="415">
          <p15:clr>
            <a:srgbClr val="FBAE40"/>
          </p15:clr>
        </p15:guide>
        <p15:guide id="7" pos="726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2AB561-4A8E-B784-10D8-5A521AD60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AB561-4A8E-B784-10D8-5A521AD60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18366"/>
            <a:ext cx="11269662" cy="720000"/>
          </a:xfrm>
          <a:prstGeom prst="rect">
            <a:avLst/>
          </a:prstGeom>
        </p:spPr>
        <p:txBody>
          <a:bodyPr vert="horz" lIns="0" tIns="7200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A5C55A9B-8857-829C-8E54-8B272E35A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812" y="1268414"/>
            <a:ext cx="10874375" cy="5040312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504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2pPr>
            <a:lvl3pPr marL="792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3pPr>
            <a:lvl4pPr marL="1080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4pPr>
            <a:lvl5pPr marL="1368000" indent="-252000"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5pPr>
            <a:lvl6pPr marL="1656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6pPr>
            <a:lvl7pPr marL="1944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7pPr>
            <a:lvl8pPr marL="2232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8pPr>
            <a:lvl9pPr marL="2520000" indent="-252000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graphicFrame>
        <p:nvGraphicFramePr>
          <p:cNvPr id="2" name="表 13">
            <a:extLst>
              <a:ext uri="{FF2B5EF4-FFF2-40B4-BE49-F238E27FC236}">
                <a16:creationId xmlns:a16="http://schemas.microsoft.com/office/drawing/2014/main" id="{6CF95802-3FC3-6936-D94D-592365EC88A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73712583"/>
              </p:ext>
            </p:extLst>
          </p:nvPr>
        </p:nvGraphicFramePr>
        <p:xfrm>
          <a:off x="850059" y="6533965"/>
          <a:ext cx="4970733" cy="25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96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91182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359517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5000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391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">
          <p15:clr>
            <a:srgbClr val="FBAE40"/>
          </p15:clr>
        </p15:guide>
        <p15:guide id="2" pos="7514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pos="415">
          <p15:clr>
            <a:srgbClr val="FBAE40"/>
          </p15:clr>
        </p15:guide>
        <p15:guide id="7" pos="726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221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593269" y="1308296"/>
            <a:ext cx="11340000" cy="5117369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Aft>
                <a:spcPts val="1200"/>
              </a:spcAft>
              <a:buClr>
                <a:schemeClr val="bg1"/>
              </a:buClr>
              <a:buFont typeface="ＭＳ Ｐゴシック" panose="020B0600070205080204" pitchFamily="50" charset="-128"/>
              <a:buChar char="・"/>
              <a:defRPr/>
            </a:lvl1pPr>
            <a:lvl2pPr marL="633413" indent="-366713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2200"/>
            </a:lvl2pPr>
            <a:lvl3pPr marL="719138" indent="-271463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/>
            </a:lvl3pPr>
            <a:lvl4pPr marL="801688" indent="-168275"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400"/>
            </a:lvl4pPr>
            <a:lvl5pPr marL="900113" indent="-182563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5751669" y="6597407"/>
            <a:ext cx="633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>
                <a:latin typeface="+mn-ea"/>
                <a:ea typeface="+mn-ea"/>
              </a:rPr>
              <a:t>Page</a:t>
            </a:r>
            <a:r>
              <a:rPr kumimoji="1" lang="ja-JP" altLang="en-US" sz="800" baseline="0">
                <a:latin typeface="+mn-ea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latin typeface="+mn-ea"/>
                <a:ea typeface="+mn-ea"/>
              </a:rPr>
              <a:t>‹#›</a:t>
            </a:fld>
            <a:endParaRPr kumimoji="1" lang="ja-JP" altLang="en-US" sz="800">
              <a:latin typeface="+mn-ea"/>
              <a:ea typeface="+mn-ea"/>
            </a:endParaRPr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593269" y="218366"/>
            <a:ext cx="11340000" cy="7200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BE25A5-E867-424C-94FF-45CA7E77756E}"/>
              </a:ext>
            </a:extLst>
          </p:cNvPr>
          <p:cNvSpPr txBox="1"/>
          <p:nvPr userDrawn="1"/>
        </p:nvSpPr>
        <p:spPr>
          <a:xfrm>
            <a:off x="9398656" y="6597407"/>
            <a:ext cx="2105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spc="0" baseline="0">
                <a:latin typeface="+mn-ea"/>
                <a:ea typeface="+mn-ea"/>
              </a:rPr>
              <a:t>© JERA Co., Inc. All Rights Reserved.</a:t>
            </a:r>
            <a:endParaRPr kumimoji="1" lang="ja-JP" altLang="en-US" sz="900" spc="0" baseline="0">
              <a:latin typeface="+mn-ea"/>
              <a:ea typeface="+mn-ea"/>
            </a:endParaRPr>
          </a:p>
        </p:txBody>
      </p:sp>
      <p:graphicFrame>
        <p:nvGraphicFramePr>
          <p:cNvPr id="2" name="表 13">
            <a:extLst>
              <a:ext uri="{FF2B5EF4-FFF2-40B4-BE49-F238E27FC236}">
                <a16:creationId xmlns:a16="http://schemas.microsoft.com/office/drawing/2014/main" id="{D6B7607B-5847-A2D0-31F2-817D22BA08C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73712583"/>
              </p:ext>
            </p:extLst>
          </p:nvPr>
        </p:nvGraphicFramePr>
        <p:xfrm>
          <a:off x="850059" y="6533965"/>
          <a:ext cx="4970733" cy="25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96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91182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359517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5000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703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2AB561-4A8E-B784-10D8-5A521AD60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AB561-4A8E-B784-10D8-5A521AD60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 lIns="0" tIns="7200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546F75-E05D-96B4-6FE9-DA4D12B58B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DCFEEF55-B49A-7001-C8E2-FFC7F5A83C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D24A0BC-5DE6-8C06-AE19-C3692D50E05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32125A5B-020D-211F-C244-03EA21341F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29CEF65A-D21C-BB5A-7058-BE77B71ED8A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75579E1-DF4D-6736-F8BB-649367B1DC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8813" y="1268415"/>
            <a:ext cx="10874375" cy="61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163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5838" indent="0" defTabSz="538163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リード文（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FFCC930F-1E68-BB9B-37C8-A675FB0AC8D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8813" y="2133599"/>
            <a:ext cx="10874375" cy="4175119"/>
          </a:xfrm>
          <a:prstGeom prst="rect">
            <a:avLst/>
          </a:prstGeom>
        </p:spPr>
        <p:txBody>
          <a:bodyPr lIns="0" tIns="0" rIns="0" bIns="0"/>
          <a:lstStyle>
            <a:lvl1pPr marL="2160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468000" indent="-215900">
              <a:lnSpc>
                <a:spcPct val="120000"/>
              </a:lnSpc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2pPr>
            <a:lvl3pPr marL="538163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5838" indent="0" defTabSz="538163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ボディテキスト（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1"/>
            <a:r>
              <a:rPr kumimoji="1" lang="ja-JP" altLang="en-US"/>
              <a:t>ボディテキスト</a:t>
            </a:r>
          </a:p>
        </p:txBody>
      </p:sp>
      <p:graphicFrame>
        <p:nvGraphicFramePr>
          <p:cNvPr id="6" name="表 13">
            <a:extLst>
              <a:ext uri="{FF2B5EF4-FFF2-40B4-BE49-F238E27FC236}">
                <a16:creationId xmlns:a16="http://schemas.microsoft.com/office/drawing/2014/main" id="{1E854B88-8897-4AB2-8B34-FD7B00C0CA6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41772086"/>
              </p:ext>
            </p:extLst>
          </p:nvPr>
        </p:nvGraphicFramePr>
        <p:xfrm>
          <a:off x="850059" y="6533965"/>
          <a:ext cx="4970733" cy="25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96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91182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359517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5000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189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">
          <p15:clr>
            <a:srgbClr val="FBAE40"/>
          </p15:clr>
        </p15:guide>
        <p15:guide id="2" pos="7514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pos="415">
          <p15:clr>
            <a:srgbClr val="FBAE40"/>
          </p15:clr>
        </p15:guide>
        <p15:guide id="7" pos="726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本文_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2AB561-4A8E-B784-10D8-5A521AD60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AB561-4A8E-B784-10D8-5A521AD60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 lIns="0" tIns="7200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546F75-E05D-96B4-6FE9-DA4D12B58B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DCFEEF55-B49A-7001-C8E2-FFC7F5A83C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D24A0BC-5DE6-8C06-AE19-C3692D50E05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32125A5B-020D-211F-C244-03EA21341F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29CEF65A-D21C-BB5A-7058-BE77B71ED8A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75579E1-DF4D-6736-F8BB-649367B1DC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8813" y="1268415"/>
            <a:ext cx="10874375" cy="612000"/>
          </a:xfrm>
          <a:prstGeom prst="rect">
            <a:avLst/>
          </a:prstGeom>
        </p:spPr>
        <p:txBody>
          <a:bodyPr lIns="0" tIns="0" rIns="0" bIns="0"/>
          <a:lstStyle>
            <a:lvl1pPr marL="216000" indent="-2160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163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5838" indent="0" defTabSz="538163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リード文（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FFCC930F-1E68-BB9B-37C8-A675FB0AC8D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8813" y="2133599"/>
            <a:ext cx="10874375" cy="4175119"/>
          </a:xfrm>
          <a:prstGeom prst="rect">
            <a:avLst/>
          </a:prstGeom>
        </p:spPr>
        <p:txBody>
          <a:bodyPr lIns="0" tIns="0" rIns="0" bIns="0"/>
          <a:lstStyle>
            <a:lvl1pPr marL="2160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1pPr>
            <a:lvl2pPr marL="468000" indent="-215900">
              <a:lnSpc>
                <a:spcPct val="120000"/>
              </a:lnSpc>
              <a:spcAft>
                <a:spcPts val="1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600"/>
            </a:lvl2pPr>
            <a:lvl3pPr marL="538163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5838" indent="0" defTabSz="538163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ボディテキスト（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1"/>
            <a:r>
              <a:rPr kumimoji="1" lang="ja-JP" altLang="en-US"/>
              <a:t>ボディテキスト</a:t>
            </a:r>
          </a:p>
        </p:txBody>
      </p:sp>
      <p:graphicFrame>
        <p:nvGraphicFramePr>
          <p:cNvPr id="8" name="表 13">
            <a:extLst>
              <a:ext uri="{FF2B5EF4-FFF2-40B4-BE49-F238E27FC236}">
                <a16:creationId xmlns:a16="http://schemas.microsoft.com/office/drawing/2014/main" id="{DA9045D3-79EB-153B-BD97-AB90FDA5903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039450" y="6571427"/>
          <a:ext cx="4212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93455321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92287097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26319056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非常に機密性の高い社外秘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○長以上</a:t>
                      </a:r>
                      <a:endParaRPr kumimoji="1" lang="en-US" altLang="ja-JP" sz="8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長期保管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122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社外秘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○ユニット限り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20XX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</a:t>
                      </a: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月まで保管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808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全般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社内限り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6188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公開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社内共有制限なし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8184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個人使用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○○限り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</a:t>
                      </a:r>
                      <a:r>
                        <a:rPr kumimoji="1" lang="ja-JP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年間保管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813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756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">
          <p15:clr>
            <a:srgbClr val="FBAE40"/>
          </p15:clr>
        </p15:guide>
        <p15:guide id="2" pos="7514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pos="415">
          <p15:clr>
            <a:srgbClr val="FBAE40"/>
          </p15:clr>
        </p15:guide>
        <p15:guide id="7" pos="726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エンドタイトル">
    <p:bg>
      <p:bgPr>
        <a:solidFill>
          <a:srgbClr val="8096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5B6B0349-7F90-414F-AAC0-FA239ECA12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8188" y="2690305"/>
            <a:ext cx="2575624" cy="14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75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7CB603-D70E-3C8F-A142-3F5892DC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568029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3" imgW="415" imgH="416" progId="TCLayout.ActiveDocument.1">
                  <p:embed/>
                </p:oleObj>
              </mc:Choice>
              <mc:Fallback>
                <p:oleObj name="think-cellスライド" r:id="rId13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7CB603-D70E-3C8F-A142-3F5892DC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8D76AE-0012-9798-A6D8-F6F9F5D1F6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05696" y="6591088"/>
            <a:ext cx="580608" cy="1732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800">
                <a:solidFill>
                  <a:schemeClr val="bg2"/>
                </a:solidFill>
                <a:latin typeface="+mn-lt"/>
                <a:ea typeface="+mn-ea"/>
              </a:rPr>
              <a:t>Page</a:t>
            </a:r>
            <a:r>
              <a:rPr kumimoji="1" lang="ja-JP" altLang="en-US" sz="800" baseline="0">
                <a:solidFill>
                  <a:schemeClr val="bg2"/>
                </a:solidFill>
                <a:latin typeface="+mn-lt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solidFill>
                  <a:schemeClr val="bg2"/>
                </a:solidFill>
                <a:latin typeface="+mn-lt"/>
                <a:ea typeface="+mn-ea"/>
              </a:rPr>
              <a:pPr algn="ctr"/>
              <a:t>‹#›</a:t>
            </a:fld>
            <a:endParaRPr kumimoji="1" lang="ja-JP" altLang="en-US" sz="800">
              <a:solidFill>
                <a:schemeClr val="bg2"/>
              </a:solidFill>
              <a:latin typeface="+mn-lt"/>
              <a:ea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88F1E6-BFBB-906E-9720-E2BD55F3A0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07ACDAF-7035-C1FE-8E3C-7387A5354B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A5A148A-3476-976F-133E-BDF70A56FFE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1786F0A-F17D-1BD8-B29F-B750AA47C8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0BB82248-91CD-3501-45F2-92DB0AED6F25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9B2A4992-43B6-358A-CEFE-1F3C66CC57A2}"/>
                  </a:ext>
                </a:extLst>
              </p:cNvPr>
              <p:cNvPicPr>
                <a:picLocks noGrp="1" noRot="1" noMove="1" noResize="1" noEditPoints="1" noAdjustHandles="1" noChangeArrowheads="1" noChangeShapeType="1" noCrop="1"/>
              </p:cNvPicPr>
              <p:nvPr userDrawn="1"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E72979F9-0950-2F71-3102-A346915FF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0158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3" r:id="rId2"/>
    <p:sldLayoutId id="2147483675" r:id="rId3"/>
    <p:sldLayoutId id="2147483672" r:id="rId4"/>
    <p:sldLayoutId id="2147483676" r:id="rId5"/>
    <p:sldLayoutId id="2147483674" r:id="rId6"/>
    <p:sldLayoutId id="2147483677" r:id="rId7"/>
    <p:sldLayoutId id="2147483678" r:id="rId8"/>
    <p:sldLayoutId id="2147483680" r:id="rId9"/>
    <p:sldLayoutId id="2147483679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6746712-4CD9-33F6-1C1B-E76CE4E00C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422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746712-4CD9-33F6-1C1B-E76CE4E00C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03563C2B-25AC-8ADA-6C3D-5E3C58DFA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ja-JP" altLang="en-US">
                <a:cs typeface="Arial"/>
              </a:rPr>
              <a:t>CC-FDN-presentation</a:t>
            </a:r>
            <a:endParaRPr lang="ja-JP" altLang="en-US" dirty="0">
              <a:cs typeface="Arial"/>
            </a:endParaRP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02A5F48F-0A79-9D3E-565A-FFDE6A940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2026/10/29 　</a:t>
            </a:r>
            <a:r>
              <a:rPr lang="en-US" altLang="ja-JP" dirty="0" err="1"/>
              <a:t>紅松</a:t>
            </a:r>
            <a:r>
              <a:rPr lang="en-US" altLang="ja-JP" dirty="0"/>
              <a:t>　</a:t>
            </a:r>
            <a:r>
              <a:rPr lang="en-US" altLang="ja-JP" dirty="0" err="1"/>
              <a:t>悠斗</a:t>
            </a:r>
            <a:endParaRPr lang="en-US" altLang="ja-JP" dirty="0" err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84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78F6494-7919-E121-9DDA-9E2F0C9339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731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8F6494-7919-E121-9DDA-9E2F0C93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BDB19808-B8BE-56E7-E56C-1467F5D8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ja-JP" altLang="en-US">
                <a:cs typeface="Arial"/>
              </a:rPr>
              <a:t>目次</a:t>
            </a:r>
            <a:endParaRPr lang="ja-JP" altLang="en-US" dirty="0">
              <a:cs typeface="Arial"/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02F1A7-04DF-4619-0731-2950C9CF9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buNone/>
            </a:pPr>
            <a:endParaRPr lang="ja-JP" altLang="en-US" dirty="0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  <a:p>
            <a:pPr marL="0" indent="0">
              <a:buNone/>
            </a:pPr>
            <a:r>
              <a:rPr lang="ja-JP" altLang="en-US">
                <a:cs typeface="Arial"/>
              </a:rPr>
              <a:t>①構想</a:t>
            </a:r>
            <a:endParaRPr lang="ja-JP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  <a:p>
            <a:pPr marL="0" indent="0">
              <a:buNone/>
            </a:pPr>
            <a:r>
              <a:rPr lang="ja-JP" altLang="en-US">
                <a:cs typeface="Arial"/>
              </a:rPr>
              <a:t>②学んだこと / 成長したこと</a:t>
            </a:r>
            <a:endParaRPr lang="ja-JP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512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84D6-605B-1BE0-1974-6B9FFA8C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C77FEE-3746-7B6A-2FFB-979A139477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C77FEE-3746-7B6A-2FFB-979A13947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58546D97-B4F0-12C1-9E2A-580C7974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>
                <a:cs typeface="Arial"/>
              </a:rPr>
              <a:t>構想</a:t>
            </a:r>
            <a:endParaRPr lang="ja-JP" altLang="en-US" dirty="0">
              <a:cs typeface="Arial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F7B17A33-38A2-5111-3058-C6D27C5BC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2" y="1262722"/>
            <a:ext cx="5858904" cy="4808080"/>
          </a:xfrm>
          <a:prstGeom prst="rect">
            <a:avLst/>
          </a:prstGeom>
        </p:spPr>
        <p:txBody>
          <a:bodyPr lIns="0" tIns="0" rIns="0" bIns="0" anchor="t"/>
          <a:lstStyle/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r>
              <a:rPr lang="ja-JP" altLang="en-US">
                <a:cs typeface="Arial"/>
              </a:rPr>
              <a:t>①診断ロジックの改良</a:t>
            </a:r>
            <a:endParaRPr lang="ja-JP"/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r>
              <a:rPr lang="ja-JP" altLang="en-US">
                <a:ea typeface="メイリオ"/>
                <a:cs typeface="+mn-lt"/>
              </a:rPr>
              <a:t>②リアルタイムのリーグ順位や直近の試合日程の表示</a:t>
            </a: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r>
              <a:rPr lang="ja-JP" altLang="en-US">
                <a:ea typeface="メイリオ"/>
                <a:cs typeface="+mn-lt"/>
              </a:rPr>
              <a:t>③ローカルチームの細分化</a:t>
            </a: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r>
              <a:rPr lang="ja-JP" altLang="en-US">
                <a:ea typeface="メイリオ"/>
                <a:cs typeface="+mn-lt"/>
              </a:rPr>
              <a:t>　→設定しているチームの１つに「ローカルチーム」がある</a:t>
            </a: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r>
              <a:rPr lang="ja-JP" altLang="en-US">
                <a:ea typeface="メイリオ"/>
                <a:cs typeface="+mn-lt"/>
              </a:rPr>
              <a:t>　→診断でローカルチームが該当したユーザーには、ゆかりのある地域を追加で選択してもらい、その地域のチームを提案する機能の追加</a:t>
            </a: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メイリオ"/>
              <a:cs typeface="+mn-lt"/>
            </a:endParaRPr>
          </a:p>
          <a:p>
            <a:pPr marL="215900" indent="-215900">
              <a:buNone/>
            </a:pPr>
            <a:endParaRPr lang="ja-JP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dirty="0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651E0-33DD-4D8E-0977-8D580863E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999" y="1263316"/>
            <a:ext cx="3358816" cy="50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2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130C-F7F3-2160-178B-6B8DFBD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8CA86A3-55E9-090D-2673-4612ED7F19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A86A3-55E9-090D-2673-4612ED7F1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74A112A7-A452-A94C-927C-CEBD4220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>
                <a:cs typeface="Arial"/>
              </a:rPr>
              <a:t>学んだこと / 成長や気づき</a:t>
            </a:r>
            <a:endParaRPr lang="ja-JP" altLang="en-US" dirty="0">
              <a:cs typeface="Arial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02D74D-0343-F5E0-B7BA-F4A3E3328AF1}"/>
              </a:ext>
            </a:extLst>
          </p:cNvPr>
          <p:cNvSpPr txBox="1"/>
          <p:nvPr/>
        </p:nvSpPr>
        <p:spPr>
          <a:xfrm>
            <a:off x="1477010" y="1710690"/>
            <a:ext cx="481961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600">
                <a:cs typeface="Arial"/>
              </a:rPr>
              <a:t>・プログラミング基礎知識などの技術面の知識</a:t>
            </a:r>
            <a:endParaRPr lang="ja-JP" altLang="en-US" sz="1600" dirty="0">
              <a:cs typeface="Arial"/>
            </a:endParaRPr>
          </a:p>
          <a:p>
            <a:endParaRPr lang="ja-JP" altLang="en-US" sz="1600" dirty="0">
              <a:cs typeface="Arial"/>
            </a:endParaRPr>
          </a:p>
          <a:p>
            <a:endParaRPr lang="ja-JP" altLang="en-US" sz="1600" dirty="0">
              <a:cs typeface="Arial"/>
            </a:endParaRPr>
          </a:p>
          <a:p>
            <a:r>
              <a:rPr lang="ja-JP" altLang="en-US" sz="1600">
                <a:cs typeface="Arial"/>
              </a:rPr>
              <a:t>・MDNのサイトの有用性</a:t>
            </a:r>
            <a:endParaRPr lang="ja-JP" altLang="en-US" sz="1600" dirty="0">
              <a:cs typeface="Arial"/>
            </a:endParaRPr>
          </a:p>
          <a:p>
            <a:endParaRPr lang="ja-JP" altLang="en-US" sz="1600" dirty="0">
              <a:cs typeface="Arial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3C4FB8-A11A-896E-1328-C3DFA838A5F7}"/>
              </a:ext>
            </a:extLst>
          </p:cNvPr>
          <p:cNvSpPr txBox="1"/>
          <p:nvPr/>
        </p:nvSpPr>
        <p:spPr>
          <a:xfrm>
            <a:off x="1473200" y="3794760"/>
            <a:ext cx="963703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・わからない部分を恥ずかしがらずに聞く姿勢</a:t>
            </a:r>
          </a:p>
          <a:p>
            <a:endParaRPr lang="ja-JP" altLang="en-US" sz="1600" dirty="0">
              <a:solidFill>
                <a:srgbClr val="000000"/>
              </a:solidFill>
              <a:latin typeface="Meiryo UI"/>
              <a:ea typeface="Arial"/>
              <a:cs typeface="Meiryo UI"/>
            </a:endParaRPr>
          </a:p>
          <a:p>
            <a:endParaRPr lang="ja-JP" altLang="en-US" sz="1600" dirty="0">
              <a:solidFill>
                <a:srgbClr val="000000"/>
              </a:solidFill>
              <a:latin typeface="Meiryo UI"/>
              <a:ea typeface="Arial"/>
              <a:cs typeface="Meiryo UI"/>
            </a:endParaRPr>
          </a:p>
          <a:p>
            <a:pPr algn="l"/>
            <a:r>
              <a:rPr lang="ja-JP" sz="1600" b="0" i="0" u="none" strike="noStrike" baseline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・頭の中のぼんやりとした仮説を</a:t>
            </a:r>
            <a:r>
              <a:rPr lang="ja-JP" altLang="en-US" sz="160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紙に</a:t>
            </a:r>
            <a:r>
              <a:rPr lang="ja-JP" sz="1600" b="0" i="0" u="none" strike="noStrike" baseline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書き出す、デバックすることによる構造鮮明化の習慣づけ</a:t>
            </a:r>
            <a:r>
              <a:rPr lang="en-US" sz="1600" b="0" i="0">
                <a:solidFill>
                  <a:srgbClr val="000000"/>
                </a:solidFill>
                <a:latin typeface="Arial"/>
                <a:ea typeface="Meiryo UI"/>
                <a:cs typeface="Meiryo UI"/>
              </a:rPr>
              <a:t>​</a:t>
            </a:r>
            <a:endParaRPr lang="en-US"/>
          </a:p>
          <a:p>
            <a:pPr algn="l" rtl="0"/>
            <a:r>
              <a:rPr lang="ja-JP" sz="1600" b="0" i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​</a:t>
            </a:r>
          </a:p>
          <a:p>
            <a:pPr algn="l" rtl="0"/>
            <a:r>
              <a:rPr lang="ja-JP" sz="1600" b="0" i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​</a:t>
            </a:r>
          </a:p>
          <a:p>
            <a:pPr algn="l" rtl="0"/>
            <a:r>
              <a:rPr lang="ja-JP" sz="1600" b="0" i="0" u="none" strike="noStrike" baseline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・ペアワーク</a:t>
            </a:r>
            <a:r>
              <a:rPr lang="ja-JP" altLang="en-US" sz="160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などで</a:t>
            </a:r>
            <a:r>
              <a:rPr lang="ja-JP" sz="1600" b="0" i="0" u="none" strike="noStrike" baseline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認識やプログラムを共有する際に</a:t>
            </a:r>
            <a:r>
              <a:rPr lang="ja-JP" altLang="en-US" sz="160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、</a:t>
            </a:r>
            <a:r>
              <a:rPr lang="ja-JP" altLang="en-US" sz="1600" b="0" i="0" u="none" strike="noStrike" baseline="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相手</a:t>
            </a:r>
            <a:r>
              <a:rPr lang="ja-JP" altLang="en-US" sz="1600">
                <a:solidFill>
                  <a:srgbClr val="000000"/>
                </a:solidFill>
                <a:latin typeface="Meiryo UI"/>
                <a:ea typeface="Arial"/>
                <a:cs typeface="Meiryo UI"/>
              </a:rPr>
              <a:t>の立場に立つことを心掛けるようになった</a:t>
            </a:r>
            <a:endParaRPr lang="ja-JP" altLang="en-US" sz="1600" b="0" i="0">
              <a:solidFill>
                <a:srgbClr val="000000"/>
              </a:solidFill>
              <a:latin typeface="Meiryo UI"/>
              <a:ea typeface="Meiryo UI"/>
              <a:cs typeface="Meiryo UI"/>
            </a:endParaRPr>
          </a:p>
          <a:p>
            <a:pPr algn="ctr"/>
            <a:endParaRPr kumimoji="1" lang="ja-JP" altLang="en-US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9D91812-F4A1-DE58-FF89-1958A0E42CBC}"/>
              </a:ext>
            </a:extLst>
          </p:cNvPr>
          <p:cNvSpPr txBox="1"/>
          <p:nvPr/>
        </p:nvSpPr>
        <p:spPr>
          <a:xfrm>
            <a:off x="954013" y="1334761"/>
            <a:ext cx="18004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solidFill>
                  <a:srgbClr val="8096A3"/>
                </a:solidFill>
                <a:cs typeface="Arial"/>
              </a:rPr>
              <a:t>＜</a:t>
            </a:r>
            <a:r>
              <a:rPr lang="ja-JP" b="1">
                <a:solidFill>
                  <a:srgbClr val="8096A3"/>
                </a:solidFill>
                <a:cs typeface="Arial"/>
              </a:rPr>
              <a:t>学んだこと</a:t>
            </a:r>
            <a:r>
              <a:rPr lang="ja-JP" altLang="en-US" b="1" dirty="0">
                <a:solidFill>
                  <a:srgbClr val="8096A3"/>
                </a:solidFill>
                <a:cs typeface="Arial"/>
              </a:rPr>
              <a:t>＞</a:t>
            </a:r>
            <a:endParaRPr lang="ja-JP" dirty="0">
              <a:cs typeface="Arial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B418ED-9983-5052-FF58-A06520AE9265}"/>
              </a:ext>
            </a:extLst>
          </p:cNvPr>
          <p:cNvSpPr txBox="1"/>
          <p:nvPr/>
        </p:nvSpPr>
        <p:spPr>
          <a:xfrm>
            <a:off x="954013" y="3427720"/>
            <a:ext cx="2031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solidFill>
                  <a:srgbClr val="8096A3"/>
                </a:solidFill>
                <a:cs typeface="Arial"/>
              </a:rPr>
              <a:t>＜成長や気づき＞</a:t>
            </a:r>
            <a:endParaRPr lang="ja-JP">
              <a:cs typeface="Arial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01C4F5F-D6B0-3441-FADE-67C250C7E59F}"/>
              </a:ext>
            </a:extLst>
          </p:cNvPr>
          <p:cNvCxnSpPr/>
          <p:nvPr/>
        </p:nvCxnSpPr>
        <p:spPr>
          <a:xfrm>
            <a:off x="955675" y="3206115"/>
            <a:ext cx="10129520" cy="1016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38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75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959C94-A4C0-F863-01CA-D6B6EFDC26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541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959C94-A4C0-F863-01CA-D6B6EFDC2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606D004E-EDFB-D225-3315-10B4281809E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ja-JP" altLang="en-US"/>
              <a:t>テンプレート</a:t>
            </a:r>
            <a:r>
              <a:rPr kumimoji="1" lang="ja-JP" altLang="en-US"/>
              <a:t>③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9315F6-B41D-3320-D190-9F59EDFF5B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ボディテキスト（</a:t>
            </a:r>
            <a:r>
              <a:rPr lang="en-US" altLang="ja-JP"/>
              <a:t>16pt</a:t>
            </a:r>
            <a:r>
              <a:rPr lang="ja-JP" altLang="en-US"/>
              <a:t>）</a:t>
            </a:r>
            <a:endParaRPr lang="en-US" altLang="ja-JP"/>
          </a:p>
          <a:p>
            <a:pPr lvl="1"/>
            <a:r>
              <a:rPr lang="ja-JP" altLang="en-US"/>
              <a:t>ボディテキスト</a:t>
            </a:r>
            <a:endParaRPr lang="en-US" altLang="ja-JP"/>
          </a:p>
          <a:p>
            <a:pPr lvl="2"/>
            <a:r>
              <a:rPr lang="ja-JP" altLang="en-US"/>
              <a:t>ボディテキスト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2972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B47A8CE-1480-F9B4-FFB3-9B993D4958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0798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47A8CE-1480-F9B4-FFB3-9B993D495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EE27D61-53AD-657F-8610-5B128AF2D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>
                <a:cs typeface="Arial"/>
              </a:rPr>
              <a:t>診断の流れ / ロジック</a:t>
            </a:r>
            <a:endParaRPr lang="ja-JP" altLang="en-US" dirty="0">
              <a:cs typeface="Arial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76FCCBDE-AAD8-3942-86E6-CDDF2578E9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2" y="1272491"/>
            <a:ext cx="10874375" cy="3162160"/>
          </a:xfrm>
          <a:prstGeom prst="rect">
            <a:avLst/>
          </a:prstGeom>
        </p:spPr>
        <p:txBody>
          <a:bodyPr lIns="0" tIns="0" rIns="0" bIns="0" anchor="t"/>
          <a:lstStyle/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① 質問に回答</a:t>
            </a:r>
            <a:endParaRPr lang="en-US" altLang="ja-JP">
              <a:cs typeface="Arial"/>
            </a:endParaRPr>
          </a:p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      ↓</a:t>
            </a:r>
            <a:endParaRPr lang="ja-JP">
              <a:cs typeface="Arial"/>
            </a:endParaRPr>
          </a:p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② 回答ごとに設定した点数を</a:t>
            </a:r>
            <a:r>
              <a:rPr lang="ja-JP" altLang="en-US">
                <a:ea typeface="+mn-lt"/>
                <a:cs typeface="+mn-lt"/>
              </a:rPr>
              <a:t>ユーザースコアに</a:t>
            </a:r>
            <a:r>
              <a:rPr lang="ja-JP">
                <a:ea typeface="+mn-lt"/>
                <a:cs typeface="+mn-lt"/>
              </a:rPr>
              <a:t>加算</a:t>
            </a:r>
            <a:endParaRPr lang="ja-JP">
              <a:cs typeface="Arial"/>
            </a:endParaRPr>
          </a:p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      ↓</a:t>
            </a:r>
            <a:endParaRPr lang="ja-JP">
              <a:cs typeface="Arial"/>
            </a:endParaRPr>
          </a:p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③ ユーザー</a:t>
            </a:r>
            <a:r>
              <a:rPr lang="ja-JP" altLang="en-US">
                <a:ea typeface="+mn-lt"/>
                <a:cs typeface="+mn-lt"/>
              </a:rPr>
              <a:t>と</a:t>
            </a:r>
            <a:r>
              <a:rPr lang="ja-JP">
                <a:ea typeface="+mn-lt"/>
                <a:cs typeface="+mn-lt"/>
              </a:rPr>
              <a:t>各クラブの</a:t>
            </a:r>
            <a:r>
              <a:rPr lang="ja-JP" altLang="en-US">
                <a:ea typeface="+mn-lt"/>
                <a:cs typeface="+mn-lt"/>
              </a:rPr>
              <a:t>点数を</a:t>
            </a:r>
            <a:r>
              <a:rPr lang="ja-JP">
                <a:ea typeface="+mn-lt"/>
                <a:cs typeface="+mn-lt"/>
              </a:rPr>
              <a:t>1項目ずつ比較</a:t>
            </a:r>
            <a:endParaRPr lang="ja-JP">
              <a:cs typeface="Arial"/>
            </a:endParaRPr>
          </a:p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      ↓</a:t>
            </a:r>
            <a:endParaRPr lang="ja-JP">
              <a:cs typeface="Arial"/>
            </a:endParaRPr>
          </a:p>
          <a:p>
            <a:pPr marL="215900" indent="-215900">
              <a:buNone/>
            </a:pPr>
            <a:r>
              <a:rPr lang="ja-JP" altLang="en-US">
                <a:ea typeface="+mn-lt"/>
                <a:cs typeface="+mn-lt"/>
              </a:rPr>
              <a:t>④</a:t>
            </a:r>
            <a:r>
              <a:rPr lang="ja-JP">
                <a:ea typeface="+mn-lt"/>
                <a:cs typeface="+mn-lt"/>
              </a:rPr>
              <a:t> 「差」の合計が最も小さいクラブを提案</a:t>
            </a:r>
            <a:endParaRPr lang="ja-JP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809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C5B76F-4E03-1C46-E325-E9C55681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C338CEC-C180-4775-6B30-CF86F404F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338CEC-C180-4775-6B30-CF86F404F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C4959AEE-D961-1F35-FE37-E489F873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>
                <a:cs typeface="Arial"/>
              </a:rPr>
              <a:t>診断の流れ</a:t>
            </a:r>
            <a:endParaRPr lang="ja-JP" altLang="en-US" dirty="0">
              <a:cs typeface="Arial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3D7CDBE-5DB4-483E-F6C9-743FBC326B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2" y="1262722"/>
            <a:ext cx="4924914" cy="4808080"/>
          </a:xfrm>
          <a:prstGeom prst="rect">
            <a:avLst/>
          </a:prstGeom>
        </p:spPr>
        <p:txBody>
          <a:bodyPr lIns="0" tIns="0" rIns="0" bIns="0" anchor="t"/>
          <a:lstStyle/>
          <a:p>
            <a:pPr marL="215900" indent="-215900">
              <a:buNone/>
            </a:pPr>
            <a:r>
              <a:rPr lang="ja-JP">
                <a:ea typeface="+mn-lt"/>
                <a:cs typeface="+mn-lt"/>
              </a:rPr>
              <a:t>① 質問に回答</a:t>
            </a:r>
            <a:endParaRPr lang="en-US" altLang="ja-JP">
              <a:cs typeface="Arial"/>
            </a:endParaRPr>
          </a:p>
          <a:p>
            <a:pPr marL="215900" indent="-215900">
              <a:buNone/>
            </a:pPr>
            <a:r>
              <a:rPr lang="ja-JP" dirty="0">
                <a:ea typeface="+mn-lt"/>
                <a:cs typeface="+mn-lt"/>
              </a:rPr>
              <a:t>      </a:t>
            </a:r>
            <a:endParaRPr lang="ja-JP" dirty="0">
              <a:cs typeface="Arial"/>
            </a:endParaRPr>
          </a:p>
          <a:p>
            <a:pPr>
              <a:buNone/>
            </a:pPr>
            <a:r>
              <a:rPr lang="ja-JP">
                <a:ea typeface="+mn-lt"/>
                <a:cs typeface="+mn-lt"/>
              </a:rPr>
              <a:t>② 回答ごとに設定した点数を加算</a:t>
            </a: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dirty="0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47A527-72CB-5BD0-DF6E-E83A66989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23" y="2327274"/>
            <a:ext cx="4110649" cy="3092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07D35-CEEA-8B41-A60C-DF6F93D83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686" y="2328130"/>
            <a:ext cx="5260243" cy="33252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70BF7-8849-A0A9-7D7E-E0E9E786857D}"/>
              </a:ext>
            </a:extLst>
          </p:cNvPr>
          <p:cNvSpPr txBox="1"/>
          <p:nvPr/>
        </p:nvSpPr>
        <p:spPr>
          <a:xfrm>
            <a:off x="5591256" y="1839871"/>
            <a:ext cx="529824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cs typeface="Arial"/>
              </a:rPr>
              <a:t>９つの軸 × 各軸の合計6点になるように各選択肢に設定</a:t>
            </a:r>
            <a:endParaRPr kumimoji="1" lang="en-US" sz="1600" dirty="0"/>
          </a:p>
        </p:txBody>
      </p:sp>
    </p:spTree>
    <p:extLst>
      <p:ext uri="{BB962C8B-B14F-4D97-AF65-F5344CB8AC3E}">
        <p14:creationId xmlns:p14="http://schemas.microsoft.com/office/powerpoint/2010/main" val="162082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A43D90-84DB-83B2-074B-6D4AE73D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41A9192-9781-91DB-F65B-DC67354086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1A9192-9781-91DB-F65B-DC6735408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0CB6AF19-C28C-78A6-4DE3-BFE7A980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18366"/>
            <a:ext cx="11269663" cy="720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>
                <a:cs typeface="Arial"/>
              </a:rPr>
              <a:t>診断の流れ</a:t>
            </a:r>
            <a:endParaRPr lang="ja-JP" altLang="en-US" dirty="0">
              <a:cs typeface="Arial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5B11490-46E4-E113-52C4-998695A7F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2" y="1262722"/>
            <a:ext cx="4924914" cy="480808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buNone/>
            </a:pPr>
            <a:r>
              <a:rPr lang="ja-JP">
                <a:ea typeface="+mn-lt"/>
                <a:cs typeface="+mn-lt"/>
              </a:rPr>
              <a:t>③ ユーザーと各クラブの点数を1項目ずつ比較</a:t>
            </a:r>
          </a:p>
          <a:p>
            <a:pPr marL="215900" indent="-215900">
              <a:buNone/>
            </a:pPr>
            <a:endParaRPr lang="ja-JP" altLang="en-US" dirty="0">
              <a:cs typeface="Arial"/>
            </a:endParaRPr>
          </a:p>
          <a:p>
            <a:pPr marL="215900" indent="-215900">
              <a:buNone/>
            </a:pPr>
            <a:endParaRPr lang="ja-JP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altLang="en-US" dirty="0">
              <a:ea typeface="+mn-lt"/>
              <a:cs typeface="+mn-lt"/>
            </a:endParaRPr>
          </a:p>
          <a:p>
            <a:pPr marL="215900" indent="-215900">
              <a:buNone/>
            </a:pPr>
            <a:endParaRPr lang="ja-JP" dirty="0">
              <a:cs typeface="Arial"/>
            </a:endParaRPr>
          </a:p>
          <a:p>
            <a:pPr marL="0" indent="0">
              <a:buNone/>
            </a:pPr>
            <a:endParaRPr lang="ja-JP" alt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17B8B-7DF1-3153-06E0-BDFBD2B3A6D2}"/>
              </a:ext>
            </a:extLst>
          </p:cNvPr>
          <p:cNvSpPr txBox="1"/>
          <p:nvPr/>
        </p:nvSpPr>
        <p:spPr>
          <a:xfrm>
            <a:off x="5998308" y="1260231"/>
            <a:ext cx="418255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600" b="0" i="0" u="none" strike="noStrike" baseline="0">
                <a:solidFill>
                  <a:srgbClr val="000000"/>
                </a:solidFill>
                <a:ea typeface="Arial"/>
              </a:rPr>
              <a:t>④ 「差」の合計が最も小さいクラブを提案</a:t>
            </a:r>
            <a:r>
              <a:rPr sz="1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kumimoji="1"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EC11B3-4776-7EAF-2AD2-DDF026184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598" y="1709100"/>
            <a:ext cx="5138860" cy="3917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38546C-B526-CEB8-FCC6-2FB1F136C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5383" y="1726711"/>
            <a:ext cx="2390775" cy="3619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CF1E5D-74E9-7A26-E922-E98EF5BEDAA2}"/>
              </a:ext>
            </a:extLst>
          </p:cNvPr>
          <p:cNvSpPr txBox="1"/>
          <p:nvPr/>
        </p:nvSpPr>
        <p:spPr>
          <a:xfrm>
            <a:off x="1851434" y="5792125"/>
            <a:ext cx="63401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cs typeface="Arial"/>
              </a:rPr>
              <a:t>→</a:t>
            </a:r>
            <a:r>
              <a:rPr lang="ja-JP" altLang="en-US" sz="1600">
                <a:cs typeface="Arial"/>
              </a:rPr>
              <a:t>各項目の合計が近いチームを提案している</a:t>
            </a:r>
          </a:p>
          <a:p>
            <a:r>
              <a:rPr lang="ja-JP" altLang="en-US" sz="1600">
                <a:cs typeface="Arial"/>
              </a:rPr>
              <a:t>→軸を設定してそれぞれの観点で点数を取得している意味が限定的</a:t>
            </a:r>
            <a:endParaRPr lang="ja-JP" altLang="en-US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826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デジタル部門テンプレート_Options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6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デジタル部門_PPT_Template_Options 1(16：9)" id="{132199EB-07F3-43F7-8AFC-96D3BB980AA3}" vid="{248F3AF2-6D38-4316-A864-85473EFED8DE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decacd-150a-4bc5-bf2a-925897dc82a1">
      <Terms xmlns="http://schemas.microsoft.com/office/infopath/2007/PartnerControls"/>
    </lcf76f155ced4ddcb4097134ff3c332f>
    <TaxCatchAll xmlns="e7468564-e9eb-43b2-a14c-5e3b66d15da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B59EDD5F80614081ACA574B7F6AECE" ma:contentTypeVersion="25" ma:contentTypeDescription="新しいドキュメントを作成します。" ma:contentTypeScope="" ma:versionID="6353638c7dacd32e12131170c039170e">
  <xsd:schema xmlns:xsd="http://www.w3.org/2001/XMLSchema" xmlns:xs="http://www.w3.org/2001/XMLSchema" xmlns:p="http://schemas.microsoft.com/office/2006/metadata/properties" xmlns:ns2="60decacd-150a-4bc5-bf2a-925897dc82a1" xmlns:ns3="e7468564-e9eb-43b2-a14c-5e3b66d15dad" targetNamespace="http://schemas.microsoft.com/office/2006/metadata/properties" ma:root="true" ma:fieldsID="0fdb0ce04b6ff17fe2f547c9c9b12d27" ns2:_="" ns3:_="">
    <xsd:import namespace="60decacd-150a-4bc5-bf2a-925897dc82a1"/>
    <xsd:import namespace="e7468564-e9eb-43b2-a14c-5e3b66d15d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decacd-150a-4bc5-bf2a-925897dc82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61ec606-d3f6-431d-aca1-879ead054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468564-e9eb-43b2-a14c-5e3b66d15da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02e806b-3ab4-4647-a05c-2075138ce404}" ma:internalName="TaxCatchAll" ma:showField="CatchAllData" ma:web="e7468564-e9eb-43b2-a14c-5e3b66d15d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DA27AC-83C4-4EE9-B46C-151C1CB5C4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3A18B7-FA08-4F77-9B4B-210ABC1ECCC3}">
  <ds:schemaRefs>
    <ds:schemaRef ds:uri="60decacd-150a-4bc5-bf2a-925897dc82a1"/>
    <ds:schemaRef ds:uri="e7468564-e9eb-43b2-a14c-5e3b66d15d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7CDEE1-6E5C-48D1-A948-2729B9334C62}">
  <ds:schemaRefs>
    <ds:schemaRef ds:uri="60decacd-150a-4bc5-bf2a-925897dc82a1"/>
    <ds:schemaRef ds:uri="e7468564-e9eb-43b2-a14c-5e3b66d15d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</TotalTime>
  <Words>1247</Words>
  <Application>Microsoft Office PowerPoint</Application>
  <PresentationFormat>ワイド画面</PresentationFormat>
  <Paragraphs>123</Paragraphs>
  <Slides>9</Slides>
  <Notes>0</Notes>
  <HiddenSlides>4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0" baseType="lpstr">
      <vt:lpstr>デジタル部門テンプレート_Options</vt:lpstr>
      <vt:lpstr>CC-FDN-presentation</vt:lpstr>
      <vt:lpstr>目次</vt:lpstr>
      <vt:lpstr>構想</vt:lpstr>
      <vt:lpstr>学んだこと / 成長や気づき</vt:lpstr>
      <vt:lpstr>PowerPoint プレゼンテーション</vt:lpstr>
      <vt:lpstr>テンプレート③</vt:lpstr>
      <vt:lpstr>診断の流れ / ロジック</vt:lpstr>
      <vt:lpstr>診断の流れ</vt:lpstr>
      <vt:lpstr>診断の流れ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デジタル部門テンプレート（16:9）</dc:title>
  <dc:creator>福田 和佳奈(Wakana Fukuda)</dc:creator>
  <cp:lastModifiedBy>紅松 悠斗(Yuto Kurematsu)</cp:lastModifiedBy>
  <cp:revision>291</cp:revision>
  <cp:lastPrinted>2015-03-27T02:26:32Z</cp:lastPrinted>
  <dcterms:created xsi:type="dcterms:W3CDTF">2026-09-01T06:10:10Z</dcterms:created>
  <dcterms:modified xsi:type="dcterms:W3CDTF">2026-10-28T07:18:24Z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0x01010016B59EDD5F80614081ACA574B7F6AECE</vt:lpwstr>
  </property>
  <property fmtid="{D5CDD505-2E9C-101B-9397-08002B2CF9AE}" pid="3" name="MediaServiceImageTags">
    <vt:lpwstr/>
  </property>
</Properties>
</file>